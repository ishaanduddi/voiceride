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B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Segoe UI"/>
              </a:rPr>
              <a:t>NATURAL LANGUAGE PROCESSING ·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F5F7FA"/>
                </a:solidFill>
                <a:latin typeface="Segoe UI"/>
              </a:rPr>
              <a:t>THE NLP INSIDE
VOICERIDERS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93A1B8"/>
                </a:solidFill>
                <a:latin typeface="Segoe UI"/>
              </a:rPr>
              <a:t>Understanding a rider’s voice on a moving motorcycle — offline, in one shot, with no wake word.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617720"/>
            <a:ext cx="5577840" cy="96012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9204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7FA"/>
                </a:solidFill>
                <a:latin typeface="Segoe UI"/>
              </a:rPr>
              <a:t>Name 1   ·   Name 2   ·   Name 3   ·   Name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9601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App: Expo / React Native · Spotify Web API · whisper.cpp on the 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DB954"/>
                </a:solidFill>
                <a:latin typeface="Segoe UI"/>
              </a:rPr>
              <a:t>github.com/ishaanduddi/VoiceRide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Segoe UI"/>
              </a:rPr>
              <a:t>WHY THIS IS AN NLP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3A1B8"/>
                </a:solidFill>
                <a:latin typeface="Segoe UI"/>
              </a:rPr>
              <a:t>The same sentence is easy on a sofa and hard at 60 km/h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 · 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8288"/>
          </a:xfrm>
          <a:prstGeom prst="rect">
            <a:avLst/>
          </a:prstGeom>
          <a:solidFill>
            <a:srgbClr val="2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224028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1664208"/>
            <a:ext cx="502920" cy="310896"/>
          </a:xfrm>
          <a:prstGeom prst="round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169164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ONE 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4884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1B8"/>
                </a:solidFill>
                <a:latin typeface="Segoe UI"/>
              </a:rPr>
              <a:t>No wake word, no confirmation question.
A single 2–4 s utterance must be understood — or deliberately ignored.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3520440" cy="224028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3712" y="1664208"/>
            <a:ext cx="502920" cy="310896"/>
          </a:xfrm>
          <a:prstGeom prst="round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169164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DAMAGED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14884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1B8"/>
                </a:solidFill>
                <a:latin typeface="Segoe UI"/>
              </a:rPr>
              <a:t>Engine, wind and helmet mics mangle phonemes:
“volum”, “beleiver”, “nex song”.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463040"/>
            <a:ext cx="3520440" cy="224028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1" y="1664208"/>
            <a:ext cx="502920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399" y="169164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OPPOSITES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14884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1B8"/>
                </a:solidFill>
                <a:latin typeface="Segoe UI"/>
              </a:rPr>
              <a:t>“increase volume” and “decrease volume” are ~90% identical as strings,
but doing the opposite is the worst failure.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31920"/>
            <a:ext cx="11064240" cy="96012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245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So the job is not “transcribe”. It is: turn a noisy 3-second clip into one of ten actions, and know when to do nothing at 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663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Segoe UI"/>
              </a:rPr>
              <a:t>Constraints that shaped every design choice below: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50">
                <a:solidFill>
                  <a:srgbClr val="93A1B8"/>
                </a:solidFill>
                <a:latin typeface="Segoe UI"/>
              </a:rPr>
              <a:t>•  Everything runs offline on the phone — no cloud ASR, no API key, no audio leaving the device.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50">
                <a:solidFill>
                  <a:srgbClr val="93A1B8"/>
                </a:solidFill>
                <a:latin typeface="Segoe UI"/>
              </a:rPr>
              <a:t>•  A wrong action is worse than a missed one, so the pipeline is allowed to stay silent.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50">
                <a:solidFill>
                  <a:srgbClr val="93A1B8"/>
                </a:solidFill>
                <a:latin typeface="Segoe UI"/>
              </a:rPr>
              <a:t>•  The rider cannot look at the screen, so there is no “try again”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Segoe UI"/>
              </a:rPr>
              <a:t>PIPELINE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3A1B8"/>
                </a:solidFill>
                <a:latin typeface="Segoe UI"/>
              </a:rPr>
              <a:t>From microphone to Spotify in seven steps — five of them NLP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 · 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8288"/>
          </a:xfrm>
          <a:prstGeom prst="rect">
            <a:avLst/>
          </a:prstGeom>
          <a:solidFill>
            <a:srgbClr val="2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481328"/>
            <a:ext cx="1417320" cy="141732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1591056"/>
            <a:ext cx="310896" cy="274320"/>
          </a:xfrm>
          <a:prstGeom prst="round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92024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F7FA"/>
                </a:solidFill>
                <a:latin typeface="Segoe UI"/>
              </a:rPr>
              <a:t>VAD + gates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212848"/>
            <a:ext cx="1234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energy VAD,
SNR / length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20240"/>
            <a:ext cx="2194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93A1B8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57984" y="1481328"/>
            <a:ext cx="1417320" cy="141732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67712" y="1591056"/>
            <a:ext cx="310896" cy="274320"/>
          </a:xfrm>
          <a:prstGeom prst="round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192024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F7FA"/>
                </a:solidFill>
                <a:latin typeface="Segoe UI"/>
              </a:rPr>
              <a:t>ASR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212848"/>
            <a:ext cx="1234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whisper.cpp
base.en, on-device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1920240"/>
            <a:ext cx="2194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93A1B8"/>
                </a:solidFill>
                <a:latin typeface="Segoe U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1481328"/>
            <a:ext cx="1417320" cy="141732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58768" y="1591056"/>
            <a:ext cx="310896" cy="274320"/>
          </a:xfrm>
          <a:prstGeom prst="round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192024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F7FA"/>
                </a:solidFill>
                <a:latin typeface="Segoe UI"/>
              </a:rPr>
              <a:t>Normalise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2212848"/>
            <a:ext cx="1234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case, punctuation,
rewrites, synonyms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1920240"/>
            <a:ext cx="2194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93A1B8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0096" y="1481328"/>
            <a:ext cx="1417320" cy="141732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49824" y="1591056"/>
            <a:ext cx="310896" cy="274320"/>
          </a:xfrm>
          <a:prstGeom prst="round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4" y="192024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F7FA"/>
                </a:solidFill>
                <a:latin typeface="Segoe UI"/>
              </a:rPr>
              <a:t>Intent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9824" y="2212848"/>
            <a:ext cx="1234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TF-IDF + logistic
regression ⊕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1920240"/>
            <a:ext cx="2194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93A1B8"/>
                </a:solidFill>
                <a:latin typeface="Segoe U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31152" y="1481328"/>
            <a:ext cx="1417320" cy="141732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040880" y="1591056"/>
            <a:ext cx="310896" cy="274320"/>
          </a:xfrm>
          <a:prstGeom prst="round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192024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F7FA"/>
                </a:solidFill>
                <a:latin typeface="Segoe UI"/>
              </a:rPr>
              <a:t>Entities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212848"/>
            <a:ext cx="1234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song title,
artist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1920240"/>
            <a:ext cx="2194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93A1B8"/>
                </a:solidFill>
                <a:latin typeface="Segoe UI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22207" y="1481328"/>
            <a:ext cx="1417320" cy="141732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31935" y="1591056"/>
            <a:ext cx="310896" cy="274320"/>
          </a:xfrm>
          <a:prstGeom prst="round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1935" y="192024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F7FA"/>
                </a:solidFill>
                <a:latin typeface="Segoe UI"/>
              </a:rPr>
              <a:t>Confidence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31935" y="2212848"/>
            <a:ext cx="1234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weighted fusion,
ambiguity penalty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1920240"/>
            <a:ext cx="2194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93A1B8"/>
                </a:solidFill>
                <a:latin typeface="Segoe UI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13263" y="1481328"/>
            <a:ext cx="1417320" cy="141732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22991" y="1591056"/>
            <a:ext cx="310896" cy="274320"/>
          </a:xfrm>
          <a:prstGeom prst="round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22991" y="192024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F7FA"/>
                </a:solidFill>
                <a:latin typeface="Segoe UI"/>
              </a:rPr>
              <a:t>Action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22991" y="2212848"/>
            <a:ext cx="1234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Spotify Web API
+ spoken reply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200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40156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Pure TypeScript from step 3 onwards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73075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3A1B8"/>
                </a:solidFill>
                <a:latin typeface="Segoe UI"/>
              </a:rPr>
              <a:t>Only the ASR step is native. Normalisation, classification, entity extraction and confidence are dependency-free functions, so they run identically in the app, in unit tests and in the Python evaluation harness (ml/).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566928" y="4800600"/>
          <a:ext cx="1106423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0278"/>
                <a:gridCol w="3651199"/>
                <a:gridCol w="3319272"/>
                <a:gridCol w="2323490"/>
              </a:tblGrid>
              <a:tr h="3017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Input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Where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Normalise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“Turn the music UP, please”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increase volume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nlp/preprocessing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Intent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increase volume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INCREASE_VOLUME 0.93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nlp/intentClassifier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Entities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 believer by imagine dragons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believer / imagine dragons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nlp/entityExtractor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Confidence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all signals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execute · reject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nlp/confidence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Segoe UI"/>
              </a:rPr>
              <a:t>TASK 1 · SPEECH TO TEXT,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3A1B8"/>
                </a:solidFill>
                <a:latin typeface="Segoe UI"/>
              </a:rPr>
              <a:t>Whisper (whisper.cpp base.en) — no cloud round trip, no audio leaves the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 · 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8288"/>
          </a:xfrm>
          <a:prstGeom prst="rect">
            <a:avLst/>
          </a:prstGeom>
          <a:solidFill>
            <a:srgbClr val="2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VAD closes an utterance → 16 kHz mono WAV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base.en model, ~140 MB, downloaded once at runtime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4 threads, beam size 2, temperature 0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Native inference; model file never committed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Command biasing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983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93A1B8"/>
                </a:solidFill>
                <a:latin typeface="Consolas"/>
              </a:rPr>
              <a:t>“Voice commands for Spotify playback: play believer, play thunder, play believer by imagine dragons, next song, previous song, pause, resume, increase volume, decrease volume…”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1546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8BDF8"/>
                </a:solidFill>
                <a:latin typeface="Segoe UI"/>
              </a:rPr>
              <a:t>Whisper conditions decoding on preceding text, so the command vocabulary acts as a domain prior.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11064240" cy="96012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69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F5F7FA"/>
                </a:solidFill>
                <a:latin typeface="Segoe UI"/>
              </a:rPr>
              <a:t>Why on-device: a cloud hop adds 0.5–2 s and needs signal — exactly what a rider does not have. Cost: the model is CPU-bound, and it reports no calibrated confidence (so the NLP layer estimates it).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5029200"/>
          <a:ext cx="1106423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9272"/>
                <a:gridCol w="3651199"/>
                <a:gridCol w="4093768"/>
              </a:tblGrid>
              <a:tr h="2468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It hears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Why it happens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What saves it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“next some”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coarticulation + wind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fuzzy matcher + prompt bias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“believer by imagine dragon”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dropped plural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artist similarity, not equality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“volum up”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clipped phoneme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Soundex + keyword similarity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[Music] / [BLANK_AUDIO]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no speech at all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stripped → never reaches the classifier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Segoe UI"/>
              </a:rPr>
              <a:t>TASK 2 · NORMALISE, THEN CLASSIFY THE INTENT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3A1B8"/>
                </a:solidFill>
                <a:latin typeface="Segoe UI"/>
              </a:rPr>
              <a:t>Ten intents, two complementary signals, one small model on the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 · 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8288"/>
          </a:xfrm>
          <a:prstGeom prst="rect">
            <a:avLst/>
          </a:prstGeom>
          <a:solidFill>
            <a:srgbClr val="2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120640" cy="265176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7276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Normalisation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9E0B"/>
                </a:solidFill>
                <a:latin typeface="Consolas"/>
              </a:rPr>
              <a:t>“Turn the music UP, please!”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4754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3A1B8"/>
                </a:solidFill>
                <a:latin typeface="Segoe UI"/>
              </a:rPr>
              <a:t>1. lowercase · strip punctuation · drop apostrophes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4754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3A1B8"/>
                </a:solidFill>
                <a:latin typeface="Segoe UI"/>
              </a:rPr>
              <a:t>2. phrase rewrites: “make it louder” → “increase volume”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07792"/>
            <a:ext cx="4754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3A1B8"/>
                </a:solidFill>
                <a:latin typeface="Segoe UI"/>
              </a:rPr>
              <a:t>3. tokenise → spoken numbers to digits → stop words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4754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3A1B8"/>
                </a:solidFill>
                <a:latin typeface="Segoe UI"/>
              </a:rPr>
              <a:t>4. synonyms: “song” → “track”, “tune” → “track”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18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DB954"/>
                </a:solidFill>
                <a:latin typeface="Consolas"/>
              </a:rPr>
              <a:t>“increase volume”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1417320"/>
            <a:ext cx="5715000" cy="265176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57276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Intent classification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938528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Features: unigrams + adjacent bigrams → 296 TF-IDF columns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Model: multinomial logistic regression, 10 classes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Trained in Python, exported to model.json (dot products on-device)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Rule signal: whole-phrase containment + fuzzy similarity, per intent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Fusion: 65% model + 35% rules — rules keep rare phrasings alive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60520"/>
            <a:ext cx="11064240" cy="91440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DB954"/>
                </a:solidFill>
                <a:latin typeface="Segoe UI"/>
              </a:rPr>
              <a:t>177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3A1B8"/>
                </a:solidFill>
                <a:latin typeface="Segoe UI"/>
              </a:rPr>
              <a:t>utterances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4279392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8BDF8"/>
                </a:solidFill>
                <a:latin typeface="Segoe UI"/>
              </a:rPr>
              <a:t>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4709160"/>
            <a:ext cx="1280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3A1B8"/>
                </a:solidFill>
                <a:latin typeface="Segoe UI"/>
              </a:rPr>
              <a:t>held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279392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DB954"/>
                </a:solidFill>
                <a:latin typeface="Segoe UI"/>
              </a:rPr>
              <a:t>0.852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4709160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3A1B8"/>
                </a:solidFill>
                <a:latin typeface="Segoe UI"/>
              </a:rPr>
              <a:t>hybrid accuracy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27939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8BDF8"/>
                </a:solidFill>
                <a:latin typeface="Segoe UI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709160"/>
            <a:ext cx="1280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3A1B8"/>
                </a:solidFill>
                <a:latin typeface="Segoe UI"/>
              </a:rPr>
              <a:t>intents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4279392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DB954"/>
                </a:solidFill>
                <a:latin typeface="Segoe UI"/>
              </a:rPr>
              <a:t>0.887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4709160"/>
            <a:ext cx="1737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3A1B8"/>
                </a:solidFill>
                <a:latin typeface="Segoe UI"/>
              </a:rPr>
              <a:t>ML macro-F1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279392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8BDF8"/>
                </a:solidFill>
                <a:latin typeface="Segoe UI"/>
              </a:rPr>
              <a:t>~1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470916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3A1B8"/>
                </a:solidFill>
                <a:latin typeface="Segoe UI"/>
              </a:rPr>
              <a:t>per utterance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48640" y="5212080"/>
          <a:ext cx="1106423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1199"/>
                <a:gridCol w="1548993"/>
                <a:gridCol w="1548993"/>
                <a:gridCol w="4315053"/>
              </a:tblGrid>
              <a:tr h="20116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5F7FA"/>
                          </a:solidFill>
                          <a:latin typeface="Segoe UI"/>
                        </a:rPr>
                        <a:t>Evaluation (54 held-out utterances)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5F7FA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5F7FA"/>
                          </a:solidFill>
                          <a:latin typeface="Segoe UI"/>
                        </a:rPr>
                        <a:t>Macro-F1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5F7FA"/>
                          </a:solidFill>
                          <a:latin typeface="Segoe UI"/>
                        </a:rPr>
                        <a:t>What it means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Rules only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0.852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0.786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works, but brittle on unseen phrasing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Fuzzy only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0.852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0.786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same coverage, softer matching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Model only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0.852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0.887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best balance across classes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Hybrid (ships)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0.852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0.857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D7DFEA"/>
                          </a:solidFill>
                          <a:latin typeface="Segoe UI"/>
                        </a:rPr>
                        <a:t>trade a little F1 for rule coverage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Segoe UI"/>
              </a:rPr>
              <a:t>TASK 3 · EXTRACT WHAT TO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3A1B8"/>
                </a:solidFill>
                <a:latin typeface="Segoe UI"/>
              </a:rPr>
              <a:t>The number-navigation feature was removed: the rider names a song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 · 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8288"/>
          </a:xfrm>
          <a:prstGeom prst="rect">
            <a:avLst/>
          </a:prstGeom>
          <a:solidFill>
            <a:srgbClr val="2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696"/>
                <a:gridCol w="2212848"/>
                <a:gridCol w="2212848"/>
                <a:gridCol w="2212848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Utterance (after normalisation)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songTitle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artist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 believer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believer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search, most popular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 song thunder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thunder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filler “song” dropped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 the song believer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believer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filler on both sides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 believer by imagine dragons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believer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imagine dragons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artist-pinned search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 levitating by dua lipa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levitating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dua lipa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artist-pinned search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 song number seven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rejected: numbers removed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 music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generic title rejected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251960"/>
            <a:ext cx="5394960" cy="201168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074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Extraction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5488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Find the last “play”, then take everything after it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Strip leading/trailing “song” / “track”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Split on the last “by” → title + artist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Reject generic titles: music, it, something, anything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251960"/>
            <a:ext cx="5440680" cy="201168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4074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Why it matters for NLP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A title is free text — anything can follow “play”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“by &lt;artist&gt;” changes the referent, not just the words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80">
                <a:solidFill>
                  <a:srgbClr val="F5F7FA"/>
                </a:solidFill>
                <a:latin typeface="Segoe UI"/>
              </a:rPr>
              <a:t>•  Without an entity the intent cannot be actioned (confidence capped at 0.45)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Segoe UI"/>
              </a:rPr>
              <a:t>TASK 4 · DECIDE WHETHER TO ACT AT 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3A1B8"/>
                </a:solidFill>
                <a:latin typeface="Segoe UI"/>
              </a:rPr>
              <a:t>A weighted fusion of four signals, with explicit anti-confusion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 · 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8288"/>
          </a:xfrm>
          <a:prstGeom prst="rect">
            <a:avLst/>
          </a:prstGeom>
          <a:solidFill>
            <a:srgbClr val="2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577840" cy="137160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confidence = 0.45·P(intent) + 0.25·fuzzy
+ 0.20·ASR + 0.10·context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Execute at ≥ 0.60 (Settings: 0.50 / 0.60 / 0.75). Below it: silence — there is no “did you mean?” question any more.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71800"/>
            <a:ext cx="5577840" cy="324612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2724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Two guards that matter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9300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Segoe UI"/>
              </a:rPr>
              <a:t>1 · Ambiguity penalty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67328"/>
            <a:ext cx="5029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If the top two intents are within 0.10 and form a known confusable pair (increase/decrease, next/previous, play/pause), the score is multiplied by 0.85 — a coin flip never executes.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902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Segoe UI"/>
              </a:rPr>
              <a:t>2 · Direction guard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64608"/>
            <a:ext cx="5029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An explicit “up / louder / raise” or “down / quieter / lower” overrides the classifier — doing the opposite of what was asked is the one unforgivable error.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417320"/>
            <a:ext cx="5212080" cy="219456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157276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Worked example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901952"/>
            <a:ext cx="4480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8BDF8"/>
                </a:solidFill>
                <a:latin typeface="Consolas"/>
              </a:rPr>
              <a:t>“increase the volume”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240280"/>
            <a:ext cx="4663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F5F7FA"/>
                </a:solidFill>
                <a:latin typeface="Consolas"/>
              </a:rPr>
              <a:t>P = 0.93   fuzzy = 0.88   ASR = 0.75   context = 1.00
→ 0.45·0.93 + 0.25·0.88 + 0.20·0.75 + 0.10·1.00 = 0.90   →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108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3A1B8"/>
                </a:solidFill>
                <a:latin typeface="Segoe UI"/>
              </a:rPr>
              <a:t>Reported on screen with the reasons, so a wrong decision is diagnosable.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794760"/>
            <a:ext cx="5212080" cy="242316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950208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Three outcomes instead of guessing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4343400"/>
            <a:ext cx="1325880" cy="292608"/>
          </a:xfrm>
          <a:prstGeom prst="round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execute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361688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3A1B8"/>
                </a:solidFill>
                <a:latin typeface="Segoe UI"/>
              </a:rPr>
              <a:t>confident enough → do it, and say one short sentence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910328"/>
            <a:ext cx="1325880" cy="29260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reject, spoken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928616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3A1B8"/>
                </a:solidFill>
                <a:latin typeface="Segoe UI"/>
              </a:rPr>
              <a:t>looked like a command but was weak → “Sorry, I didn’t catch that.”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5477256"/>
            <a:ext cx="1325880" cy="292608"/>
          </a:xfrm>
          <a:prstGeom prst="roundRect">
            <a:avLst/>
          </a:prstGeom>
          <a:solidFill>
            <a:srgbClr val="93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220"/>
                </a:solidFill>
                <a:latin typeface="Segoe UI"/>
              </a:rPr>
              <a:t>silence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5495544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3A1B8"/>
                </a:solidFill>
                <a:latin typeface="Segoe UI"/>
              </a:rPr>
              <a:t>confidence &lt; 0.35 → treated as noise, nothing spoken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Segoe UI"/>
              </a:rPr>
              <a:t>TASK 5 · CONTEXT CHANGES THE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3A1B8"/>
                </a:solidFill>
                <a:latin typeface="Segoe UI"/>
              </a:rPr>
              <a:t>The same word “play” means RESUME, PLAY or PLAY_SONG depending on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 · 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8288"/>
          </a:xfrm>
          <a:prstGeom prst="rect">
            <a:avLst/>
          </a:prstGeom>
          <a:solidFill>
            <a:srgbClr val="2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76655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3974"/>
                <a:gridCol w="2435961"/>
                <a:gridCol w="270662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Said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App state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F7FA"/>
                          </a:solidFill>
                          <a:latin typeface="Segoe UI"/>
                        </a:rPr>
                        <a:t>Resolved intent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“play”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a track is paused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RESUME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“play”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nothing queued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“play believer”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anything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PLAY_SONG (entity present)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“play”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no song named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rejected — song name missing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“next song”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no playlist / context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D7DFEA"/>
                          </a:solidFill>
                          <a:latin typeface="Segoe UI"/>
                        </a:rPr>
                        <a:t>kept, confidence lowered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543800" y="1463040"/>
            <a:ext cx="4069080" cy="19751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609344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5F7FA"/>
                </a:solidFill>
                <a:latin typeface="Segoe UI"/>
              </a:rPr>
              <a:t>Context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2024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Spotify connected?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Is something playing?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Does PLAY_SONG have a title?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Playlist present for skips?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39"/>
            <a:ext cx="5577840" cy="246888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04487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From entity to a real song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5196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Spotify search with field filters: track:“believer”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Rank: exact title &gt; partial, then artist match, then popularity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No artist named → most popular match (Spotify exposes popularity, not views)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“by imagine dragons” → only that artist’s version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Playback starts inside the playlist/album context, so “next” still 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49039"/>
            <a:ext cx="5212080" cy="246888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04487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Segoe UI"/>
              </a:rPr>
              <a:t>Why this is NLP, not plumbing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29768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>
                <a:solidFill>
                  <a:srgbClr val="93A1B8"/>
                </a:solidFill>
                <a:latin typeface="Segoe UI"/>
              </a:rPr>
              <a:t>“play believer” contains an intent and a named entity, but no target. Turning the name into a specific track needs similarity ranking over candidate titles and artists — the same fuzzy and phonetic machinery used for intents, applied to song metadata.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56235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DB954"/>
                </a:solidFill>
                <a:latin typeface="Consolas"/>
              </a:rPr>
              <a:t>“beleiver by imagine dragon” → Believer · Imagine Dragons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Segoe UI"/>
              </a:rPr>
              <a:t>TASK 6 · NOISE REJECTION IS PART OF THE LANGUAGE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3A1B8"/>
                </a:solidFill>
                <a:latin typeface="Segoe UI"/>
              </a:rPr>
              <a:t>Most “misunderstandings” are not misclassification — they are audio that should never be classified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 · 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8288"/>
          </a:xfrm>
          <a:prstGeom prst="rect">
            <a:avLst/>
          </a:prstGeom>
          <a:solidFill>
            <a:srgbClr val="2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97480" cy="169164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DB954"/>
                </a:solidFill>
                <a:latin typeface="Segoe UI"/>
              </a:rPr>
              <a:t>8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84831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F5F7FA"/>
                </a:solidFill>
                <a:latin typeface="Segoe UI"/>
              </a:rPr>
              <a:t>peak SNR above the noise floor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87168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speech from across the road is ignored, not merged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9856" y="1463040"/>
            <a:ext cx="2697480" cy="169164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1600200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DB954"/>
                </a:solidFill>
                <a:latin typeface="Segoe UI"/>
              </a:rPr>
              <a:t>4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2084831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F5F7FA"/>
                </a:solidFill>
                <a:latin typeface="Segoe UI"/>
              </a:rPr>
              <a:t>level modulation over ≥ 800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487168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steady music is not speech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1463040"/>
            <a:ext cx="2697480" cy="169164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600200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DB954"/>
                </a:solidFill>
                <a:latin typeface="Segoe U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084831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F5F7FA"/>
                </a:solidFill>
                <a:latin typeface="Segoe UI"/>
              </a:rPr>
              <a:t>words maximum per command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487168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a conversation is not a 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2288" y="1463040"/>
            <a:ext cx="2697480" cy="169164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0888" y="1600200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DB954"/>
                </a:solidFill>
                <a:latin typeface="Segoe UI"/>
              </a:rPr>
              <a:t>4.5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0888" y="2084831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F5F7FA"/>
                </a:solidFill>
                <a:latin typeface="Segoe UI"/>
              </a:rPr>
              <a:t>maximum utterance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0888" y="2487168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3A1B8"/>
                </a:solidFill>
                <a:latin typeface="Segoe UI"/>
              </a:rPr>
              <a:t>long noisy stretches are not stitched together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83280"/>
            <a:ext cx="11064240" cy="114300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6118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5F7FA"/>
                </a:solidFill>
                <a:latin typeface="Segoe UI"/>
              </a:rPr>
              <a:t>Order matters: gate first, classify second. Once noise reaches the classifier it can be confidently wrong — “music” once became PLAY, and a distant sentence became a volume command.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54880"/>
            <a:ext cx="4572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F5F7FA"/>
                </a:solidFill>
                <a:latin typeface="Segoe UI"/>
              </a:rPr>
              <a:t>Also rejected before NLP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7492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800 ms refractory window after our own spoken reply (loopback)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Whisper annotations: [Music], [BLANK_AUDIO], (applause)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Utterances under 200 ms (a cough, a horn)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Empty transcripts after cleaning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54880"/>
            <a:ext cx="4572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F5F7FA"/>
                </a:solidFill>
                <a:latin typeface="Segoe UI"/>
              </a:rPr>
              <a:t>The trade-off we accept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074920"/>
            <a:ext cx="5074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These gates occasionally drop a real command in heavy wind. That is deliberate: a missed command costs one repetition, a false command changes the music (or the volume) at the worst possible moment.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Segoe UI"/>
              </a:rPr>
              <a:t>WHAT WORKS, AND WHAT STILL DOES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3A1B8"/>
                </a:solidFill>
                <a:latin typeface="Segoe UI"/>
              </a:rPr>
              <a:t>Measured on 54 held-out utterances — no cherry-picking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 · 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8288"/>
          </a:xfrm>
          <a:prstGeom prst="rect">
            <a:avLst/>
          </a:prstGeom>
          <a:solidFill>
            <a:srgbClr val="2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58367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5104"/>
                <a:gridCol w="987552"/>
                <a:gridCol w="855878"/>
                <a:gridCol w="658368"/>
                <a:gridCol w="2106777"/>
              </a:tblGrid>
              <a:tr h="329184"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F5F7FA"/>
                          </a:solidFill>
                          <a:latin typeface="Segoe UI"/>
                        </a:rPr>
                        <a:t>Intent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F5F7FA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F5F7FA"/>
                          </a:solidFill>
                          <a:latin typeface="Segoe UI"/>
                        </a:rPr>
                        <a:t>Recall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F5F7FA"/>
                          </a:solidFill>
                          <a:latin typeface="Segoe UI"/>
                        </a:rPr>
                        <a:t>F1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F5F7FA"/>
                          </a:solidFill>
                          <a:latin typeface="Segoe UI"/>
                        </a:rPr>
                        <a:t>Comment</a:t>
                      </a:r>
                    </a:p>
                  </a:txBody>
                  <a:tcPr marL="73152" marR="54864" marT="27432" marB="27432">
                    <a:solidFill>
                      <a:srgbClr val="1B27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INCREASE_VOLUME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0.67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0.89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0.76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catches it, sometimes over-triggers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DECREASE_VOLUME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0.86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0.67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0.75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the hard pair — direction guard protects it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NEXT_SONG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0.86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0.92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strong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PLAY_SONG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0.83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0.91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strong (entities are distinctive)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UNKNOWN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0.20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0.33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D7DFEA"/>
                          </a:solidFill>
                          <a:latin typeface="Segoe UI"/>
                        </a:rPr>
                        <a:t>noise often labelled as a real intent</a:t>
                      </a:r>
                    </a:p>
                  </a:txBody>
                  <a:tcPr marL="73152" marR="54864" marT="27432" marB="27432">
                    <a:solidFill>
                      <a:srgbClr val="131C2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52360" y="1463040"/>
            <a:ext cx="4160520" cy="210312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609344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5F7FA"/>
                </a:solidFill>
                <a:latin typeface="Segoe UI"/>
              </a:rPr>
              <a:t>Headline numbers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938528"/>
            <a:ext cx="37490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Hybrid accuracy 0.852 (54 held out)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Model-only macro-F1 0.887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Hybrid macro-F1 0.857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177 training utterances, 10 intents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4572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Honest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06240"/>
            <a:ext cx="5577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UNKNOWN recall is 0.20 — noise is the weakest class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increase ↔ decrease remains the dominant confusion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No calibrated ASR confidence from whisper.cpp, so it is estimated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Dataset is small and written, not recorded on a bike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886200"/>
            <a:ext cx="5029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DB954"/>
                </a:solidFill>
                <a:latin typeface="Segoe UI"/>
              </a:rPr>
              <a:t>What we changed because of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Direction guard overrides the classifier on explicit up/down words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Low-confidence commands are dropped instead of guessed or questioned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Peak-SNR and word-count gates stop noise reaching the classifier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050">
                <a:solidFill>
                  <a:srgbClr val="F5F7FA"/>
                </a:solidFill>
                <a:latin typeface="Segoe UI"/>
              </a:rPr>
              <a:t>•  base.en model + command-bias prompt for damaged phonemes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989320"/>
            <a:ext cx="11064240" cy="310896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3A1B8"/>
                </a:solidFill>
                <a:latin typeface="Segoe UI"/>
              </a:rPr>
              <a:t>Next: record in-domain ride audio · calibrate confidence · small.en with quantisation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5F7FA"/>
                </a:solidFill>
                <a:latin typeface="Segoe UI"/>
              </a:rPr>
              <a:t>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3A1B8"/>
                </a:solidFill>
                <a:latin typeface="Segoe UI"/>
              </a:rPr>
              <a:t>Thank you — the code, the trained model and the evaluation scripts are in the repository.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749039"/>
            <a:ext cx="6400800" cy="86868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402336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Name 1   ·   Name 2   ·   Name 3   ·   Name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8BDF8"/>
                </a:solidFill>
                <a:latin typeface="Segoe UI"/>
              </a:rPr>
              <a:t>VoiceRiders · hands-free Spotify for riders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